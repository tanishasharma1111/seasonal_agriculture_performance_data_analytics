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4" r:id="rId11"/>
    <p:sldId id="340" r:id="rId12"/>
    <p:sldId id="345" r:id="rId13"/>
    <p:sldId id="346" r:id="rId14"/>
    <p:sldId id="347"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DEA6B95-615D-4C7A-9C30-8C8D51F70762}">
          <p14:sldIdLst>
            <p14:sldId id="338"/>
            <p14:sldId id="327"/>
          </p14:sldIdLst>
        </p14:section>
        <p14:section name="Untitled Section" id="{6FC65AA4-1C77-48A1-9FBE-1FEB8D042FE2}">
          <p14:sldIdLst>
            <p14:sldId id="315"/>
            <p14:sldId id="329"/>
            <p14:sldId id="302"/>
            <p14:sldId id="339"/>
            <p14:sldId id="344"/>
            <p14:sldId id="340"/>
            <p14:sldId id="345"/>
            <p14:sldId id="346"/>
            <p14:sldId id="347"/>
            <p14:sldId id="341"/>
            <p14:sldId id="342"/>
            <p14:sldId id="343"/>
            <p14:sldId id="304"/>
          </p14:sldIdLst>
        </p14:section>
      </p14:sectionLst>
    </p:ex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p:scale>
          <a:sx n="100" d="100"/>
          <a:sy n="100" d="100"/>
        </p:scale>
        <p:origin x="-226" y="-22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47869" y="3583914"/>
            <a:ext cx="7613780" cy="861497"/>
          </a:xfrm>
        </p:spPr>
        <p:txBody>
          <a:bodyPr vert="horz" lIns="91440" tIns="45720" rIns="91440" bIns="45720" rtlCol="0" anchor="t">
            <a:normAutofit/>
          </a:bodyPr>
          <a:lstStyle/>
          <a:p>
            <a:r>
              <a:rPr lang="en-US" b="0" dirty="0">
                <a:solidFill>
                  <a:schemeClr val="tx1"/>
                </a:solidFill>
              </a:rPr>
              <a:t>     Student Name: Tanisha Sharma</a:t>
            </a:r>
          </a:p>
          <a:p>
            <a:r>
              <a:rPr lang="en-US" b="0" dirty="0">
                <a:solidFill>
                  <a:schemeClr val="tx1"/>
                </a:solidFill>
              </a:rPr>
              <a:t>     College Name: Graphic Era Hill University, Dehradun</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8717563" cy="743448"/>
          </a:xfrm>
        </p:spPr>
        <p:txBody>
          <a:bodyPr>
            <a:normAutofit fontScale="90000"/>
          </a:bodyPr>
          <a:lstStyle/>
          <a:p>
            <a:r>
              <a:rPr lang="en-GB" sz="3200" dirty="0"/>
              <a:t>Project Title- </a:t>
            </a:r>
            <a:r>
              <a:rPr lang="en-IN" dirty="0"/>
              <a:t>Seasonal Agriculture Performance Analysis</a:t>
            </a:r>
            <a:br>
              <a:rPr lang="en-IN" dirty="0"/>
            </a:b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6469761" cy="369332"/>
          </a:xfrm>
          <a:prstGeom prst="rect">
            <a:avLst/>
          </a:prstGeom>
          <a:noFill/>
        </p:spPr>
        <p:txBody>
          <a:bodyPr wrap="square" rtlCol="0">
            <a:spAutoFit/>
          </a:bodyPr>
          <a:lstStyle/>
          <a:p>
            <a:r>
              <a:rPr lang="en-US" b="1" dirty="0"/>
              <a:t>AICTE STU ID : </a:t>
            </a:r>
            <a:r>
              <a:rPr lang="en-IN" dirty="0"/>
              <a:t>STU6988d386466281770574726</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467359" y="0"/>
            <a:ext cx="8596668" cy="606490"/>
          </a:xfrm>
        </p:spPr>
        <p:txBody>
          <a:bodyPr>
            <a:normAutofit fontScale="90000"/>
          </a:bodyPr>
          <a:lstStyle/>
          <a:p>
            <a:r>
              <a:rPr lang="en-GB" dirty="0"/>
              <a:t>Project Description:</a:t>
            </a:r>
            <a:br>
              <a:rPr lang="en-GB" dirty="0"/>
            </a:br>
            <a:br>
              <a:rPr lang="en-GB" dirty="0"/>
            </a:br>
            <a:br>
              <a:rPr lang="en-GB" dirty="0"/>
            </a:br>
            <a:endParaRPr lang="en-IN" dirty="0"/>
          </a:p>
        </p:txBody>
      </p:sp>
      <p:sp>
        <p:nvSpPr>
          <p:cNvPr id="2" name="Content Placeholder 1">
            <a:extLst>
              <a:ext uri="{FF2B5EF4-FFF2-40B4-BE49-F238E27FC236}">
                <a16:creationId xmlns:a16="http://schemas.microsoft.com/office/drawing/2014/main" id="{A0B1412A-367B-46A9-82CF-AC654B6D0C07}"/>
              </a:ext>
            </a:extLst>
          </p:cNvPr>
          <p:cNvSpPr>
            <a:spLocks noGrp="1"/>
          </p:cNvSpPr>
          <p:nvPr>
            <p:ph idx="1"/>
          </p:nvPr>
        </p:nvSpPr>
        <p:spPr/>
        <p:txBody>
          <a:bodyPr/>
          <a:lstStyle/>
          <a:p>
            <a:pPr lvl="0"/>
            <a:r>
              <a:rPr lang="en-IN" dirty="0"/>
              <a:t>Understand the structure and quality of the agricultural dataset.</a:t>
            </a:r>
          </a:p>
          <a:p>
            <a:pPr lvl="0"/>
            <a:r>
              <a:rPr lang="en-IN" dirty="0"/>
              <a:t>Clean and prepare the data for analysis.</a:t>
            </a:r>
          </a:p>
          <a:p>
            <a:pPr lvl="0"/>
            <a:r>
              <a:rPr lang="en-IN" dirty="0"/>
              <a:t>Explore seasonal patterns in the dataset.</a:t>
            </a:r>
          </a:p>
          <a:p>
            <a:pPr lvl="0"/>
            <a:r>
              <a:rPr lang="en-IN" dirty="0"/>
              <a:t>Perform descriptive and statistical analysis.</a:t>
            </a:r>
          </a:p>
          <a:p>
            <a:pPr lvl="0"/>
            <a:r>
              <a:rPr lang="en-IN" dirty="0"/>
              <a:t>Investigate relationships among relevant variables.</a:t>
            </a:r>
          </a:p>
          <a:p>
            <a:pPr lvl="0"/>
            <a:r>
              <a:rPr lang="en-IN" dirty="0"/>
              <a:t>Compare agricultural performance across seasons and other meaningful groups.</a:t>
            </a:r>
          </a:p>
          <a:p>
            <a:pPr lvl="0"/>
            <a:r>
              <a:rPr lang="en-IN" dirty="0"/>
              <a:t>Use appropriate univariate, bivariate and multivariate visualizations.</a:t>
            </a:r>
          </a:p>
          <a:p>
            <a:pPr lvl="0"/>
            <a:r>
              <a:rPr lang="en-IN" dirty="0"/>
              <a:t>Identify significant findings from the data.</a:t>
            </a:r>
          </a:p>
          <a:p>
            <a:pPr lvl="0"/>
            <a:r>
              <a:rPr lang="en-IN" dirty="0"/>
              <a:t>Develop evidence-based insights and recommendations.</a:t>
            </a:r>
          </a:p>
          <a:p>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34241C66-4D75-6571-092D-410853DFB97C}"/>
              </a:ext>
            </a:extLst>
          </p:cNvPr>
          <p:cNvSpPr txBox="1"/>
          <p:nvPr/>
        </p:nvSpPr>
        <p:spPr>
          <a:xfrm>
            <a:off x="675958" y="816638"/>
            <a:ext cx="8598044" cy="1477328"/>
          </a:xfrm>
          <a:prstGeom prst="rect">
            <a:avLst/>
          </a:prstGeom>
          <a:noFill/>
        </p:spPr>
        <p:txBody>
          <a:bodyPr wrap="square" rtlCol="0">
            <a:spAutoFit/>
          </a:bodyPr>
          <a:lstStyle/>
          <a:p>
            <a:r>
              <a:rPr lang="en-IN" dirty="0"/>
              <a:t>This Data Analytics project, investigate how agricultural performance varies across seasons and identify meaningful patterns, trends, relationships and differences in the available data.</a:t>
            </a:r>
            <a:br>
              <a:rPr lang="en-IN" dirty="0"/>
            </a:br>
            <a:br>
              <a:rPr lang="en-IN" b="1" dirty="0"/>
            </a:br>
            <a:r>
              <a:rPr lang="en-IN" b="1" dirty="0"/>
              <a:t>OBJECTIVES: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r>
              <a:rPr lang="en-IN" b="1" dirty="0"/>
              <a:t>Farmers and Farm Owners</a:t>
            </a:r>
            <a:br>
              <a:rPr lang="en-IN" dirty="0"/>
            </a:br>
            <a:r>
              <a:rPr lang="en-IN" dirty="0"/>
              <a:t>Better crop and resource decisions</a:t>
            </a:r>
          </a:p>
          <a:p>
            <a:r>
              <a:rPr lang="en-IN" b="1" dirty="0"/>
              <a:t>Agribusinesses</a:t>
            </a:r>
            <a:br>
              <a:rPr lang="en-IN" dirty="0"/>
            </a:br>
            <a:r>
              <a:rPr lang="en-IN" dirty="0"/>
              <a:t>Production and profitability planning</a:t>
            </a:r>
          </a:p>
          <a:p>
            <a:r>
              <a:rPr lang="en-IN" b="1" dirty="0"/>
              <a:t>Government Departments</a:t>
            </a:r>
            <a:br>
              <a:rPr lang="en-IN" dirty="0"/>
            </a:br>
            <a:r>
              <a:rPr lang="en-IN" dirty="0"/>
              <a:t>Agricultural planning &amp; resource allocation</a:t>
            </a:r>
          </a:p>
          <a:p>
            <a:r>
              <a:rPr lang="en-IN" b="1" dirty="0"/>
              <a:t>Researchers and Consultants</a:t>
            </a:r>
            <a:br>
              <a:rPr lang="en-IN" dirty="0"/>
            </a:br>
            <a:r>
              <a:rPr lang="en-IN" dirty="0"/>
              <a:t>Data-driven agricultural insights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marL="457200" lvl="1" indent="0">
              <a:lnSpc>
                <a:spcPct val="100000"/>
              </a:lnSpc>
              <a:buNone/>
            </a:pPr>
            <a:r>
              <a:rPr lang="en-IN" b="1" dirty="0"/>
              <a:t>Python</a:t>
            </a:r>
            <a:r>
              <a:rPr lang="en-IN" dirty="0"/>
              <a:t> – Data analysis and processing</a:t>
            </a:r>
            <a:br>
              <a:rPr lang="en-IN" dirty="0"/>
            </a:br>
            <a:r>
              <a:rPr lang="en-IN" b="1" dirty="0"/>
              <a:t>Pandas</a:t>
            </a:r>
            <a:r>
              <a:rPr lang="en-IN" dirty="0"/>
              <a:t> – Data cleaning and manipulation</a:t>
            </a:r>
            <a:br>
              <a:rPr lang="en-IN" dirty="0"/>
            </a:br>
            <a:r>
              <a:rPr lang="en-IN" b="1" dirty="0"/>
              <a:t>NumPy</a:t>
            </a:r>
            <a:r>
              <a:rPr lang="en-IN" dirty="0"/>
              <a:t> – Numerical computation</a:t>
            </a:r>
            <a:br>
              <a:rPr lang="en-IN" dirty="0"/>
            </a:br>
            <a:r>
              <a:rPr lang="en-IN" b="1" dirty="0"/>
              <a:t>Matplotlib</a:t>
            </a:r>
            <a:r>
              <a:rPr lang="en-IN" dirty="0"/>
              <a:t> – Data visualization</a:t>
            </a:r>
            <a:br>
              <a:rPr lang="en-IN" dirty="0"/>
            </a:br>
            <a:r>
              <a:rPr lang="en-IN" b="1" dirty="0"/>
              <a:t>Seaborn</a:t>
            </a:r>
            <a:r>
              <a:rPr lang="en-IN" dirty="0"/>
              <a:t> – Statistical visualization</a:t>
            </a:r>
            <a:br>
              <a:rPr lang="en-IN" dirty="0"/>
            </a:br>
            <a:r>
              <a:rPr lang="en-IN" b="1" dirty="0"/>
              <a:t>Google </a:t>
            </a:r>
            <a:r>
              <a:rPr lang="en-IN" b="1" dirty="0" err="1"/>
              <a:t>Colab</a:t>
            </a:r>
            <a:r>
              <a:rPr lang="en-IN" dirty="0"/>
              <a:t> – Development and execution environment</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8338503" cy="830997"/>
          </a:xfrm>
        </p:spPr>
        <p:txBody>
          <a:bodyPr>
            <a:normAutofit fontScale="90000"/>
          </a:bodyPr>
          <a:lstStyle/>
          <a:p>
            <a:r>
              <a:rPr lang="en-GB" dirty="0"/>
              <a:t>RESULTS: Univariate Analysis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869425EE-6E4E-184A-D684-7395775AFE53}"/>
              </a:ext>
            </a:extLst>
          </p:cNvPr>
          <p:cNvPicPr>
            <a:picLocks noChangeAspect="1"/>
          </p:cNvPicPr>
          <p:nvPr/>
        </p:nvPicPr>
        <p:blipFill>
          <a:blip r:embed="rId3"/>
          <a:stretch>
            <a:fillRect/>
          </a:stretch>
        </p:blipFill>
        <p:spPr>
          <a:xfrm>
            <a:off x="388575" y="1226147"/>
            <a:ext cx="3459525" cy="1987917"/>
          </a:xfrm>
          <a:prstGeom prst="rect">
            <a:avLst/>
          </a:prstGeom>
        </p:spPr>
      </p:pic>
      <p:pic>
        <p:nvPicPr>
          <p:cNvPr id="14" name="Picture 13">
            <a:extLst>
              <a:ext uri="{FF2B5EF4-FFF2-40B4-BE49-F238E27FC236}">
                <a16:creationId xmlns:a16="http://schemas.microsoft.com/office/drawing/2014/main" id="{392A22FA-699D-940F-7963-70E2E86B5B55}"/>
              </a:ext>
            </a:extLst>
          </p:cNvPr>
          <p:cNvPicPr>
            <a:picLocks noChangeAspect="1"/>
          </p:cNvPicPr>
          <p:nvPr/>
        </p:nvPicPr>
        <p:blipFill>
          <a:blip r:embed="rId4"/>
          <a:stretch>
            <a:fillRect/>
          </a:stretch>
        </p:blipFill>
        <p:spPr>
          <a:xfrm>
            <a:off x="3848100" y="1201586"/>
            <a:ext cx="2994660" cy="2012478"/>
          </a:xfrm>
          <a:prstGeom prst="rect">
            <a:avLst/>
          </a:prstGeom>
        </p:spPr>
      </p:pic>
      <p:pic>
        <p:nvPicPr>
          <p:cNvPr id="17" name="Picture 16">
            <a:extLst>
              <a:ext uri="{FF2B5EF4-FFF2-40B4-BE49-F238E27FC236}">
                <a16:creationId xmlns:a16="http://schemas.microsoft.com/office/drawing/2014/main" id="{3E3E1FEE-7661-DE5B-2FF5-754D21B8C4DB}"/>
              </a:ext>
            </a:extLst>
          </p:cNvPr>
          <p:cNvPicPr>
            <a:picLocks noChangeAspect="1"/>
          </p:cNvPicPr>
          <p:nvPr/>
        </p:nvPicPr>
        <p:blipFill>
          <a:blip r:embed="rId5"/>
          <a:stretch>
            <a:fillRect/>
          </a:stretch>
        </p:blipFill>
        <p:spPr>
          <a:xfrm>
            <a:off x="388575" y="3214064"/>
            <a:ext cx="2994660" cy="2162152"/>
          </a:xfrm>
          <a:prstGeom prst="rect">
            <a:avLst/>
          </a:prstGeom>
        </p:spPr>
      </p:pic>
      <p:pic>
        <p:nvPicPr>
          <p:cNvPr id="20" name="Picture 19">
            <a:extLst>
              <a:ext uri="{FF2B5EF4-FFF2-40B4-BE49-F238E27FC236}">
                <a16:creationId xmlns:a16="http://schemas.microsoft.com/office/drawing/2014/main" id="{8FF2908D-6FC4-D348-3EE2-A6AEDA835ABA}"/>
              </a:ext>
            </a:extLst>
          </p:cNvPr>
          <p:cNvPicPr>
            <a:picLocks noChangeAspect="1"/>
          </p:cNvPicPr>
          <p:nvPr/>
        </p:nvPicPr>
        <p:blipFill>
          <a:blip r:embed="rId6"/>
          <a:stretch>
            <a:fillRect/>
          </a:stretch>
        </p:blipFill>
        <p:spPr>
          <a:xfrm>
            <a:off x="3737983" y="3214064"/>
            <a:ext cx="3459525" cy="2257096"/>
          </a:xfrm>
          <a:prstGeom prst="rect">
            <a:avLst/>
          </a:prstGeom>
        </p:spPr>
      </p:pic>
      <p:pic>
        <p:nvPicPr>
          <p:cNvPr id="22" name="Picture 21">
            <a:extLst>
              <a:ext uri="{FF2B5EF4-FFF2-40B4-BE49-F238E27FC236}">
                <a16:creationId xmlns:a16="http://schemas.microsoft.com/office/drawing/2014/main" id="{7A9FB754-A5DC-43E6-D830-63CAA5B770B2}"/>
              </a:ext>
            </a:extLst>
          </p:cNvPr>
          <p:cNvPicPr>
            <a:picLocks noChangeAspect="1"/>
          </p:cNvPicPr>
          <p:nvPr/>
        </p:nvPicPr>
        <p:blipFill>
          <a:blip r:embed="rId7"/>
          <a:stretch>
            <a:fillRect/>
          </a:stretch>
        </p:blipFill>
        <p:spPr>
          <a:xfrm>
            <a:off x="7467600" y="2385060"/>
            <a:ext cx="3680460" cy="2991156"/>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61288"/>
            <a:ext cx="9946323" cy="830997"/>
          </a:xfrm>
        </p:spPr>
        <p:txBody>
          <a:bodyPr>
            <a:normAutofit/>
          </a:bodyPr>
          <a:lstStyle/>
          <a:p>
            <a:r>
              <a:rPr lang="en-GB" dirty="0"/>
              <a:t>RESULTS : Bivariate Analysis</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D8425438-8058-8DF8-6C28-28E5819CE9C7}"/>
              </a:ext>
            </a:extLst>
          </p:cNvPr>
          <p:cNvPicPr>
            <a:picLocks noChangeAspect="1"/>
          </p:cNvPicPr>
          <p:nvPr/>
        </p:nvPicPr>
        <p:blipFill>
          <a:blip r:embed="rId3"/>
          <a:stretch>
            <a:fillRect/>
          </a:stretch>
        </p:blipFill>
        <p:spPr>
          <a:xfrm>
            <a:off x="538233" y="982979"/>
            <a:ext cx="2707887" cy="2278381"/>
          </a:xfrm>
          <a:prstGeom prst="rect">
            <a:avLst/>
          </a:prstGeom>
        </p:spPr>
      </p:pic>
      <p:pic>
        <p:nvPicPr>
          <p:cNvPr id="11" name="Picture 10">
            <a:extLst>
              <a:ext uri="{FF2B5EF4-FFF2-40B4-BE49-F238E27FC236}">
                <a16:creationId xmlns:a16="http://schemas.microsoft.com/office/drawing/2014/main" id="{E1AFD125-86DA-9F36-1AB5-F8D7D3BB5C00}"/>
              </a:ext>
            </a:extLst>
          </p:cNvPr>
          <p:cNvPicPr>
            <a:picLocks noChangeAspect="1"/>
          </p:cNvPicPr>
          <p:nvPr/>
        </p:nvPicPr>
        <p:blipFill>
          <a:blip r:embed="rId4"/>
          <a:stretch>
            <a:fillRect/>
          </a:stretch>
        </p:blipFill>
        <p:spPr>
          <a:xfrm>
            <a:off x="3657600" y="982978"/>
            <a:ext cx="2945726" cy="2278381"/>
          </a:xfrm>
          <a:prstGeom prst="rect">
            <a:avLst/>
          </a:prstGeom>
        </p:spPr>
      </p:pic>
      <p:pic>
        <p:nvPicPr>
          <p:cNvPr id="14" name="Picture 13">
            <a:extLst>
              <a:ext uri="{FF2B5EF4-FFF2-40B4-BE49-F238E27FC236}">
                <a16:creationId xmlns:a16="http://schemas.microsoft.com/office/drawing/2014/main" id="{EF7CB458-C458-3488-E2FD-6A0C10B34E54}"/>
              </a:ext>
            </a:extLst>
          </p:cNvPr>
          <p:cNvPicPr>
            <a:picLocks noChangeAspect="1"/>
          </p:cNvPicPr>
          <p:nvPr/>
        </p:nvPicPr>
        <p:blipFill>
          <a:blip r:embed="rId5"/>
          <a:stretch>
            <a:fillRect/>
          </a:stretch>
        </p:blipFill>
        <p:spPr>
          <a:xfrm>
            <a:off x="6850267" y="1106558"/>
            <a:ext cx="2530066" cy="1967874"/>
          </a:xfrm>
          <a:prstGeom prst="rect">
            <a:avLst/>
          </a:prstGeom>
        </p:spPr>
      </p:pic>
      <p:pic>
        <p:nvPicPr>
          <p:cNvPr id="17" name="Picture 16">
            <a:extLst>
              <a:ext uri="{FF2B5EF4-FFF2-40B4-BE49-F238E27FC236}">
                <a16:creationId xmlns:a16="http://schemas.microsoft.com/office/drawing/2014/main" id="{803FF256-6128-B027-EBA9-E1D2E96C3C69}"/>
              </a:ext>
            </a:extLst>
          </p:cNvPr>
          <p:cNvPicPr>
            <a:picLocks noChangeAspect="1"/>
          </p:cNvPicPr>
          <p:nvPr/>
        </p:nvPicPr>
        <p:blipFill>
          <a:blip r:embed="rId6"/>
          <a:stretch>
            <a:fillRect/>
          </a:stretch>
        </p:blipFill>
        <p:spPr>
          <a:xfrm>
            <a:off x="9455260" y="982977"/>
            <a:ext cx="2415758" cy="2236465"/>
          </a:xfrm>
          <a:prstGeom prst="rect">
            <a:avLst/>
          </a:prstGeom>
        </p:spPr>
      </p:pic>
      <p:pic>
        <p:nvPicPr>
          <p:cNvPr id="20" name="Picture 19">
            <a:extLst>
              <a:ext uri="{FF2B5EF4-FFF2-40B4-BE49-F238E27FC236}">
                <a16:creationId xmlns:a16="http://schemas.microsoft.com/office/drawing/2014/main" id="{5E6DD6F4-6D2B-FE91-3423-10C0A4FA1F8A}"/>
              </a:ext>
            </a:extLst>
          </p:cNvPr>
          <p:cNvPicPr>
            <a:picLocks noChangeAspect="1"/>
          </p:cNvPicPr>
          <p:nvPr/>
        </p:nvPicPr>
        <p:blipFill>
          <a:blip r:embed="rId7"/>
          <a:stretch>
            <a:fillRect/>
          </a:stretch>
        </p:blipFill>
        <p:spPr>
          <a:xfrm>
            <a:off x="538233" y="3261359"/>
            <a:ext cx="3383395" cy="2403367"/>
          </a:xfrm>
          <a:prstGeom prst="rect">
            <a:avLst/>
          </a:prstGeom>
        </p:spPr>
      </p:pic>
      <p:pic>
        <p:nvPicPr>
          <p:cNvPr id="22" name="Picture 21">
            <a:extLst>
              <a:ext uri="{FF2B5EF4-FFF2-40B4-BE49-F238E27FC236}">
                <a16:creationId xmlns:a16="http://schemas.microsoft.com/office/drawing/2014/main" id="{DB05992C-D4CE-4AA5-0ED1-0AC991348890}"/>
              </a:ext>
            </a:extLst>
          </p:cNvPr>
          <p:cNvPicPr>
            <a:picLocks noChangeAspect="1"/>
          </p:cNvPicPr>
          <p:nvPr/>
        </p:nvPicPr>
        <p:blipFill>
          <a:blip r:embed="rId8"/>
          <a:stretch>
            <a:fillRect/>
          </a:stretch>
        </p:blipFill>
        <p:spPr>
          <a:xfrm>
            <a:off x="3935270" y="3261359"/>
            <a:ext cx="2824650" cy="2445281"/>
          </a:xfrm>
          <a:prstGeom prst="rect">
            <a:avLst/>
          </a:prstGeom>
        </p:spPr>
      </p:pic>
      <p:pic>
        <p:nvPicPr>
          <p:cNvPr id="24" name="Picture 23">
            <a:extLst>
              <a:ext uri="{FF2B5EF4-FFF2-40B4-BE49-F238E27FC236}">
                <a16:creationId xmlns:a16="http://schemas.microsoft.com/office/drawing/2014/main" id="{A808E7C2-8E4A-5379-219B-1601E4E3CCE3}"/>
              </a:ext>
            </a:extLst>
          </p:cNvPr>
          <p:cNvPicPr>
            <a:picLocks noChangeAspect="1"/>
          </p:cNvPicPr>
          <p:nvPr/>
        </p:nvPicPr>
        <p:blipFill>
          <a:blip r:embed="rId9"/>
          <a:stretch>
            <a:fillRect/>
          </a:stretch>
        </p:blipFill>
        <p:spPr>
          <a:xfrm>
            <a:off x="6759921" y="3261359"/>
            <a:ext cx="2695340" cy="2403367"/>
          </a:xfrm>
          <a:prstGeom prst="rect">
            <a:avLst/>
          </a:prstGeom>
        </p:spPr>
      </p:pic>
      <p:pic>
        <p:nvPicPr>
          <p:cNvPr id="26" name="Picture 25">
            <a:extLst>
              <a:ext uri="{FF2B5EF4-FFF2-40B4-BE49-F238E27FC236}">
                <a16:creationId xmlns:a16="http://schemas.microsoft.com/office/drawing/2014/main" id="{6483A206-E081-5322-80A6-159C2894DC2E}"/>
              </a:ext>
            </a:extLst>
          </p:cNvPr>
          <p:cNvPicPr>
            <a:picLocks noChangeAspect="1"/>
          </p:cNvPicPr>
          <p:nvPr/>
        </p:nvPicPr>
        <p:blipFill>
          <a:blip r:embed="rId10"/>
          <a:stretch>
            <a:fillRect/>
          </a:stretch>
        </p:blipFill>
        <p:spPr>
          <a:xfrm>
            <a:off x="9455260" y="3261360"/>
            <a:ext cx="2501521" cy="2445282"/>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6357" y="46542"/>
            <a:ext cx="9565323" cy="830997"/>
          </a:xfrm>
        </p:spPr>
        <p:txBody>
          <a:bodyPr>
            <a:normAutofit/>
          </a:bodyPr>
          <a:lstStyle/>
          <a:p>
            <a:r>
              <a:rPr lang="en-GB" dirty="0"/>
              <a:t>RESULTS: Multivariate Analysis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2320121" y="2762922"/>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4" name="Picture 13">
            <a:extLst>
              <a:ext uri="{FF2B5EF4-FFF2-40B4-BE49-F238E27FC236}">
                <a16:creationId xmlns:a16="http://schemas.microsoft.com/office/drawing/2014/main" id="{718EBF69-B360-E83E-3264-175363C9DBA5}"/>
              </a:ext>
            </a:extLst>
          </p:cNvPr>
          <p:cNvPicPr>
            <a:picLocks noChangeAspect="1"/>
          </p:cNvPicPr>
          <p:nvPr/>
        </p:nvPicPr>
        <p:blipFill>
          <a:blip r:embed="rId3"/>
          <a:stretch>
            <a:fillRect/>
          </a:stretch>
        </p:blipFill>
        <p:spPr>
          <a:xfrm>
            <a:off x="7441389" y="801045"/>
            <a:ext cx="4444055" cy="2841021"/>
          </a:xfrm>
          <a:prstGeom prst="rect">
            <a:avLst/>
          </a:prstGeom>
        </p:spPr>
      </p:pic>
      <p:pic>
        <p:nvPicPr>
          <p:cNvPr id="15" name="Picture 14">
            <a:extLst>
              <a:ext uri="{FF2B5EF4-FFF2-40B4-BE49-F238E27FC236}">
                <a16:creationId xmlns:a16="http://schemas.microsoft.com/office/drawing/2014/main" id="{FF2EDBFC-98C2-0BCE-42B5-91E6A300EEEF}"/>
              </a:ext>
            </a:extLst>
          </p:cNvPr>
          <p:cNvPicPr>
            <a:picLocks noChangeAspect="1"/>
          </p:cNvPicPr>
          <p:nvPr/>
        </p:nvPicPr>
        <p:blipFill>
          <a:blip r:embed="rId4"/>
          <a:stretch>
            <a:fillRect/>
          </a:stretch>
        </p:blipFill>
        <p:spPr>
          <a:xfrm>
            <a:off x="129830" y="3429000"/>
            <a:ext cx="3779229" cy="2627452"/>
          </a:xfrm>
          <a:prstGeom prst="rect">
            <a:avLst/>
          </a:prstGeom>
        </p:spPr>
      </p:pic>
      <p:pic>
        <p:nvPicPr>
          <p:cNvPr id="16" name="Picture 15">
            <a:extLst>
              <a:ext uri="{FF2B5EF4-FFF2-40B4-BE49-F238E27FC236}">
                <a16:creationId xmlns:a16="http://schemas.microsoft.com/office/drawing/2014/main" id="{5DEF7815-E033-F9E1-62A7-76A0909177AC}"/>
              </a:ext>
            </a:extLst>
          </p:cNvPr>
          <p:cNvPicPr>
            <a:picLocks noChangeAspect="1"/>
          </p:cNvPicPr>
          <p:nvPr/>
        </p:nvPicPr>
        <p:blipFill>
          <a:blip r:embed="rId5"/>
          <a:stretch>
            <a:fillRect/>
          </a:stretch>
        </p:blipFill>
        <p:spPr>
          <a:xfrm>
            <a:off x="341522" y="877539"/>
            <a:ext cx="3567537" cy="2764527"/>
          </a:xfrm>
          <a:prstGeom prst="rect">
            <a:avLst/>
          </a:prstGeom>
        </p:spPr>
      </p:pic>
      <p:pic>
        <p:nvPicPr>
          <p:cNvPr id="17" name="Picture 16">
            <a:extLst>
              <a:ext uri="{FF2B5EF4-FFF2-40B4-BE49-F238E27FC236}">
                <a16:creationId xmlns:a16="http://schemas.microsoft.com/office/drawing/2014/main" id="{CCC6F3CD-A18D-1874-B65A-AD92093A4F0C}"/>
              </a:ext>
            </a:extLst>
          </p:cNvPr>
          <p:cNvPicPr>
            <a:picLocks noChangeAspect="1"/>
          </p:cNvPicPr>
          <p:nvPr/>
        </p:nvPicPr>
        <p:blipFill>
          <a:blip r:embed="rId6"/>
          <a:stretch>
            <a:fillRect/>
          </a:stretch>
        </p:blipFill>
        <p:spPr>
          <a:xfrm>
            <a:off x="3970020" y="964643"/>
            <a:ext cx="3413760" cy="2464357"/>
          </a:xfrm>
          <a:prstGeom prst="rect">
            <a:avLst/>
          </a:prstGeom>
        </p:spPr>
      </p:pic>
      <p:pic>
        <p:nvPicPr>
          <p:cNvPr id="18" name="Picture 17">
            <a:extLst>
              <a:ext uri="{FF2B5EF4-FFF2-40B4-BE49-F238E27FC236}">
                <a16:creationId xmlns:a16="http://schemas.microsoft.com/office/drawing/2014/main" id="{B6C88F57-4179-5EAD-D7C2-3975CF8B43B2}"/>
              </a:ext>
            </a:extLst>
          </p:cNvPr>
          <p:cNvPicPr>
            <a:picLocks noChangeAspect="1"/>
          </p:cNvPicPr>
          <p:nvPr/>
        </p:nvPicPr>
        <p:blipFill>
          <a:blip r:embed="rId7"/>
          <a:stretch>
            <a:fillRect/>
          </a:stretch>
        </p:blipFill>
        <p:spPr>
          <a:xfrm>
            <a:off x="4027629" y="3193732"/>
            <a:ext cx="3413760" cy="2764527"/>
          </a:xfrm>
          <a:prstGeom prst="rect">
            <a:avLst/>
          </a:prstGeom>
        </p:spPr>
      </p:pic>
      <p:pic>
        <p:nvPicPr>
          <p:cNvPr id="19" name="Picture 18">
            <a:extLst>
              <a:ext uri="{FF2B5EF4-FFF2-40B4-BE49-F238E27FC236}">
                <a16:creationId xmlns:a16="http://schemas.microsoft.com/office/drawing/2014/main" id="{4662A2F7-425C-968F-663D-FA58AE3BBE1D}"/>
              </a:ext>
            </a:extLst>
          </p:cNvPr>
          <p:cNvPicPr>
            <a:picLocks noChangeAspect="1"/>
          </p:cNvPicPr>
          <p:nvPr/>
        </p:nvPicPr>
        <p:blipFill>
          <a:blip r:embed="rId8"/>
          <a:stretch>
            <a:fillRect/>
          </a:stretch>
        </p:blipFill>
        <p:spPr>
          <a:xfrm>
            <a:off x="7348048" y="3729170"/>
            <a:ext cx="4567264" cy="2169156"/>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A593FA97-1E20-1708-5853-D2ED52591D83}"/>
              </a:ext>
            </a:extLst>
          </p:cNvPr>
          <p:cNvPicPr>
            <a:picLocks noChangeAspect="1"/>
          </p:cNvPicPr>
          <p:nvPr/>
        </p:nvPicPr>
        <p:blipFill>
          <a:blip r:embed="rId3"/>
          <a:stretch>
            <a:fillRect/>
          </a:stretch>
        </p:blipFill>
        <p:spPr>
          <a:xfrm>
            <a:off x="675957" y="1201586"/>
            <a:ext cx="7800871" cy="5198067"/>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AF118825-EA37-3736-34BE-E12611CDEDA7}"/>
              </a:ext>
            </a:extLst>
          </p:cNvPr>
          <p:cNvPicPr>
            <a:picLocks noChangeAspect="1"/>
          </p:cNvPicPr>
          <p:nvPr/>
        </p:nvPicPr>
        <p:blipFill>
          <a:blip r:embed="rId3"/>
          <a:stretch>
            <a:fillRect/>
          </a:stretch>
        </p:blipFill>
        <p:spPr>
          <a:xfrm>
            <a:off x="560202" y="1778291"/>
            <a:ext cx="3343561" cy="3624289"/>
          </a:xfrm>
          <a:prstGeom prst="rect">
            <a:avLst/>
          </a:prstGeom>
        </p:spPr>
      </p:pic>
      <p:pic>
        <p:nvPicPr>
          <p:cNvPr id="11" name="Picture 10">
            <a:extLst>
              <a:ext uri="{FF2B5EF4-FFF2-40B4-BE49-F238E27FC236}">
                <a16:creationId xmlns:a16="http://schemas.microsoft.com/office/drawing/2014/main" id="{227BFB5C-9F0C-2694-3721-5795618EBFCB}"/>
              </a:ext>
            </a:extLst>
          </p:cNvPr>
          <p:cNvPicPr>
            <a:picLocks noChangeAspect="1"/>
          </p:cNvPicPr>
          <p:nvPr/>
        </p:nvPicPr>
        <p:blipFill>
          <a:blip r:embed="rId4"/>
          <a:stretch>
            <a:fillRect/>
          </a:stretch>
        </p:blipFill>
        <p:spPr>
          <a:xfrm>
            <a:off x="8227279" y="1658105"/>
            <a:ext cx="3489283" cy="3515875"/>
          </a:xfrm>
          <a:prstGeom prst="rect">
            <a:avLst/>
          </a:prstGeom>
        </p:spPr>
      </p:pic>
      <p:pic>
        <p:nvPicPr>
          <p:cNvPr id="12" name="Picture 11">
            <a:extLst>
              <a:ext uri="{FF2B5EF4-FFF2-40B4-BE49-F238E27FC236}">
                <a16:creationId xmlns:a16="http://schemas.microsoft.com/office/drawing/2014/main" id="{E8A8EC45-AC2B-7BC8-FC58-2704ECEF163B}"/>
              </a:ext>
            </a:extLst>
          </p:cNvPr>
          <p:cNvPicPr>
            <a:picLocks noChangeAspect="1"/>
          </p:cNvPicPr>
          <p:nvPr/>
        </p:nvPicPr>
        <p:blipFill>
          <a:blip r:embed="rId5"/>
          <a:stretch>
            <a:fillRect/>
          </a:stretch>
        </p:blipFill>
        <p:spPr>
          <a:xfrm>
            <a:off x="4295016" y="1847720"/>
            <a:ext cx="3601969" cy="327292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2A7260E-C03E-C481-8858-FBD95A9C76EB}"/>
              </a:ext>
            </a:extLst>
          </p:cNvPr>
          <p:cNvSpPr>
            <a:spLocks noGrp="1"/>
          </p:cNvSpPr>
          <p:nvPr>
            <p:ph type="title"/>
          </p:nvPr>
        </p:nvSpPr>
        <p:spPr>
          <a:xfrm>
            <a:off x="677334" y="609600"/>
            <a:ext cx="10836486" cy="1320800"/>
          </a:xfrm>
        </p:spPr>
        <p:txBody>
          <a:bodyPr>
            <a:normAutofit/>
          </a:bodyPr>
          <a:lstStyle/>
          <a:p>
            <a:r>
              <a:rPr lang="en-IN" sz="3200" dirty="0"/>
              <a:t>Final Project Response to Research Questions</a:t>
            </a:r>
          </a:p>
        </p:txBody>
      </p:sp>
      <p:sp>
        <p:nvSpPr>
          <p:cNvPr id="8" name="Content Placeholder 7">
            <a:extLst>
              <a:ext uri="{FF2B5EF4-FFF2-40B4-BE49-F238E27FC236}">
                <a16:creationId xmlns:a16="http://schemas.microsoft.com/office/drawing/2014/main" id="{87374468-58DA-BA9F-0FD2-91BD4C2812B7}"/>
              </a:ext>
            </a:extLst>
          </p:cNvPr>
          <p:cNvSpPr>
            <a:spLocks noGrp="1"/>
          </p:cNvSpPr>
          <p:nvPr>
            <p:ph idx="1"/>
          </p:nvPr>
        </p:nvSpPr>
        <p:spPr>
          <a:xfrm>
            <a:off x="677334" y="1463041"/>
            <a:ext cx="8939106" cy="4578322"/>
          </a:xfrm>
        </p:spPr>
        <p:txBody>
          <a:bodyPr>
            <a:normAutofit fontScale="92500" lnSpcReduction="10000"/>
          </a:bodyPr>
          <a:lstStyle/>
          <a:p>
            <a:pPr marL="0" indent="0">
              <a:buNone/>
            </a:pPr>
            <a:r>
              <a:rPr lang="en-IN" dirty="0"/>
              <a:t>Based on the analysis performed, here are the answers to the primary research questions:</a:t>
            </a:r>
          </a:p>
          <a:p>
            <a:pPr lvl="0"/>
            <a:r>
              <a:rPr lang="en-IN" b="1" dirty="0"/>
              <a:t>Seasonal Yield Variation:</a:t>
            </a:r>
            <a:r>
              <a:rPr lang="en-IN" dirty="0"/>
              <a:t> Kharif shows the highest average yields (5.63 t/ha), largely driven by high rainfall, while Zaid yields are the lowest (4.64 t/ha).</a:t>
            </a:r>
          </a:p>
          <a:p>
            <a:pPr lvl="0"/>
            <a:r>
              <a:rPr lang="en-IN" b="1" dirty="0"/>
              <a:t>Crop Performance:</a:t>
            </a:r>
            <a:r>
              <a:rPr lang="en-IN" dirty="0"/>
              <a:t> Sugarcane is the highest-performing crop across all seasons, while Pulses and Cotton generally show the lowest yields.</a:t>
            </a:r>
          </a:p>
          <a:p>
            <a:pPr lvl="0"/>
            <a:r>
              <a:rPr lang="en-IN" b="1" dirty="0"/>
              <a:t>Irrigation Efficiency:</a:t>
            </a:r>
            <a:r>
              <a:rPr lang="en-IN" dirty="0"/>
              <a:t> Drip irrigation is the most efficient method, consistently associated with higher average yields compared to flood or rainfed methods.</a:t>
            </a:r>
          </a:p>
          <a:p>
            <a:pPr lvl="0"/>
            <a:r>
              <a:rPr lang="en-IN" b="1" dirty="0"/>
              <a:t>Economic Viability:</a:t>
            </a:r>
            <a:r>
              <a:rPr lang="en-IN" dirty="0"/>
              <a:t> The Zaid season presents the highest economic risk, with average profits falling into the negative (-24,804 INR).</a:t>
            </a:r>
          </a:p>
          <a:p>
            <a:pPr lvl="0"/>
            <a:r>
              <a:rPr lang="en-IN" b="1" dirty="0"/>
              <a:t>Environmental Impacts:</a:t>
            </a:r>
            <a:r>
              <a:rPr lang="en-IN" dirty="0"/>
              <a:t> Rainfall and humidity are the strongest environmental predictors of seasonal performance clusters.</a:t>
            </a:r>
          </a:p>
          <a:p>
            <a:pPr lvl="0"/>
            <a:r>
              <a:rPr lang="en-IN" b="1" dirty="0"/>
              <a:t>Regional Patterns:</a:t>
            </a:r>
            <a:r>
              <a:rPr lang="en-IN" dirty="0"/>
              <a:t> States like Gujarat show higher vulnerability to profit losses during the Zaid season compared to states like Punjab.</a:t>
            </a:r>
          </a:p>
          <a:p>
            <a:pPr lvl="0"/>
            <a:r>
              <a:rPr lang="en-IN" b="1" dirty="0"/>
              <a:t>Risk Correlation:</a:t>
            </a:r>
            <a:r>
              <a:rPr lang="en-IN" dirty="0"/>
              <a:t> There is a clear threshold at 50% Disease/Pest risk where profitability begins to decline sharply across all crops.</a:t>
            </a:r>
          </a:p>
        </p:txBody>
      </p:sp>
    </p:spTree>
    <p:extLst>
      <p:ext uri="{BB962C8B-B14F-4D97-AF65-F5344CB8AC3E}">
        <p14:creationId xmlns:p14="http://schemas.microsoft.com/office/powerpoint/2010/main" val="2368940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E5966E6A-306A-6A95-ADE1-F8642BBE4C27}"/>
              </a:ext>
            </a:extLst>
          </p:cNvPr>
          <p:cNvSpPr txBox="1"/>
          <p:nvPr/>
        </p:nvSpPr>
        <p:spPr>
          <a:xfrm>
            <a:off x="739140" y="1447800"/>
            <a:ext cx="8199120" cy="1477328"/>
          </a:xfrm>
          <a:prstGeom prst="rect">
            <a:avLst/>
          </a:prstGeom>
          <a:noFill/>
        </p:spPr>
        <p:txBody>
          <a:bodyPr wrap="square" rtlCol="0">
            <a:spAutoFit/>
          </a:bodyPr>
          <a:lstStyle/>
          <a:p>
            <a:r>
              <a:rPr lang="en-IN" b="1" dirty="0"/>
              <a:t>1. Predictive Analytics</a:t>
            </a:r>
            <a:r>
              <a:rPr lang="en-IN" dirty="0"/>
              <a:t> — Forecast yield, profit and agricultural risks</a:t>
            </a:r>
            <a:br>
              <a:rPr lang="en-IN" dirty="0"/>
            </a:br>
            <a:r>
              <a:rPr lang="en-IN" b="1" dirty="0"/>
              <a:t>2. Interactive Dashboard</a:t>
            </a:r>
            <a:r>
              <a:rPr lang="en-IN" dirty="0"/>
              <a:t> — Enable real-time exploration of insights</a:t>
            </a:r>
            <a:br>
              <a:rPr lang="en-IN" dirty="0"/>
            </a:br>
            <a:r>
              <a:rPr lang="en-IN" b="1" dirty="0"/>
              <a:t>3. Weather Integration</a:t>
            </a:r>
            <a:r>
              <a:rPr lang="en-IN" dirty="0"/>
              <a:t> — Incorporate real-time environmental data</a:t>
            </a:r>
            <a:br>
              <a:rPr lang="en-IN" dirty="0"/>
            </a:br>
            <a:r>
              <a:rPr lang="en-IN" b="1" dirty="0"/>
              <a:t>4. Resource Optimization</a:t>
            </a:r>
            <a:r>
              <a:rPr lang="en-IN" dirty="0"/>
              <a:t> — Improve water, fertilizer and input efficiency</a:t>
            </a:r>
            <a:br>
              <a:rPr lang="en-IN" dirty="0"/>
            </a:br>
            <a:r>
              <a:rPr lang="en-IN" b="1" dirty="0"/>
              <a:t>5. Regional Expansion</a:t>
            </a:r>
            <a:r>
              <a:rPr lang="en-IN" dirty="0"/>
              <a:t> — Compare performance across regions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778CFD38-F5B2-442E-5B41-5DF4E715F34E}"/>
              </a:ext>
            </a:extLst>
          </p:cNvPr>
          <p:cNvSpPr txBox="1"/>
          <p:nvPr/>
        </p:nvSpPr>
        <p:spPr>
          <a:xfrm>
            <a:off x="570333" y="2194542"/>
            <a:ext cx="9682844" cy="369332"/>
          </a:xfrm>
          <a:prstGeom prst="rect">
            <a:avLst/>
          </a:prstGeom>
          <a:noFill/>
        </p:spPr>
        <p:txBody>
          <a:bodyPr wrap="none" rtlCol="0">
            <a:spAutoFit/>
          </a:bodyPr>
          <a:lstStyle/>
          <a:p>
            <a:r>
              <a:rPr lang="en-IN" dirty="0"/>
              <a:t>https://github.com/tanishasharma1111/Seasonal_Agriculture_Performance_Data_Analytics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28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3C559F3-7A68-F28F-6787-256F9782A089}"/>
              </a:ext>
            </a:extLst>
          </p:cNvPr>
          <p:cNvPicPr>
            <a:picLocks noChangeAspect="1"/>
          </p:cNvPicPr>
          <p:nvPr/>
        </p:nvPicPr>
        <p:blipFill>
          <a:blip r:embed="rId3"/>
          <a:stretch>
            <a:fillRect/>
          </a:stretch>
        </p:blipFill>
        <p:spPr>
          <a:xfrm>
            <a:off x="690879" y="1486080"/>
            <a:ext cx="6775696" cy="430725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3110" y="1857417"/>
            <a:ext cx="11340000" cy="1731606"/>
          </a:xfrm>
          <a:prstGeom prst="rect">
            <a:avLst/>
          </a:prstGeom>
        </p:spPr>
        <p:txBody>
          <a:bodyPr anchor="ctr">
            <a:norm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1743</TotalTime>
  <Words>596</Words>
  <Application>Microsoft Office PowerPoint</Application>
  <PresentationFormat>Widescreen</PresentationFormat>
  <Paragraphs>47</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Seasonal Agriculture Performance Analysis </vt:lpstr>
      <vt:lpstr>PROBLEM  STATEMENT</vt:lpstr>
      <vt:lpstr>Project Description:   </vt:lpstr>
      <vt:lpstr>WHO ARE THE END USERS?</vt:lpstr>
      <vt:lpstr>Technology Used</vt:lpstr>
      <vt:lpstr>RESULTS: Univariate Analysis </vt:lpstr>
      <vt:lpstr>RESULTS : Bivariate Analysis</vt:lpstr>
      <vt:lpstr>RESULTS: Multivariate Analysis </vt:lpstr>
      <vt:lpstr>RESULTS </vt:lpstr>
      <vt:lpstr>RESULTS </vt:lpstr>
      <vt:lpstr>Final Project Response to Research Questions</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Tanisha Sharma</cp:lastModifiedBy>
  <cp:revision>99</cp:revision>
  <dcterms:created xsi:type="dcterms:W3CDTF">2021-07-11T13:13:15Z</dcterms:created>
  <dcterms:modified xsi:type="dcterms:W3CDTF">2026-09-06T19:45:30Z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